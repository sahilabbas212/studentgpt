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19"/>
  </p:notesMasterIdLst>
  <p:sldIdLst>
    <p:sldId id="256" r:id="rId2"/>
    <p:sldId id="630" r:id="rId3"/>
    <p:sldId id="276" r:id="rId4"/>
    <p:sldId id="631" r:id="rId5"/>
    <p:sldId id="627" r:id="rId6"/>
    <p:sldId id="628" r:id="rId7"/>
    <p:sldId id="629" r:id="rId8"/>
    <p:sldId id="263" r:id="rId9"/>
    <p:sldId id="617" r:id="rId10"/>
    <p:sldId id="619" r:id="rId11"/>
    <p:sldId id="623" r:id="rId12"/>
    <p:sldId id="621" r:id="rId13"/>
    <p:sldId id="622" r:id="rId14"/>
    <p:sldId id="257" r:id="rId15"/>
    <p:sldId id="258" r:id="rId16"/>
    <p:sldId id="260" r:id="rId17"/>
    <p:sldId id="25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00"/>
  </p:normalViewPr>
  <p:slideViewPr>
    <p:cSldViewPr snapToGrid="0">
      <p:cViewPr varScale="1">
        <p:scale>
          <a:sx n="91" d="100"/>
          <a:sy n="91" d="100"/>
        </p:scale>
        <p:origin x="12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18FF2-9D48-4D7A-BE67-F28DA8F898D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19023-8D8F-4CA3-94C2-4C5F6489B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9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1B1D0-E85B-4A93-8170-B7DA1C04614D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97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C103-B568-4C6D-9768-DA113875DFF5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6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CB843-D99D-49FA-936C-EA1CF77B72EB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5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DEB37-21E6-45E9-9ECF-E8A0D497D18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5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B2040-603F-4464-BFBC-6EAD23864B53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50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D07C6-C0C4-49F4-80F6-19EE013AE30D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7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4274C-3F2D-401D-BAD3-5495AD35DE3F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00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4787-CA89-4C15-A252-DC4D1623C80E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8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07040-BCA7-43AA-AC9E-3C6E42A9422E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48531-1747-4E39-930C-075B9F248D60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2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D4625-4D62-40C7-9187-3428ACE33A67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06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8096E-22D7-477F-8FB7-3D56B888B66C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0FE7A-938C-429D-ACB5-B6F59B1E8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9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24C5-9000-7957-10B1-9D83F02CB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176" y="1122363"/>
            <a:ext cx="8531352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 Oriented Programming</a:t>
            </a:r>
            <a:br>
              <a:rPr lang="en-US" dirty="0"/>
            </a:br>
            <a:r>
              <a:rPr lang="en-US" b="1" dirty="0"/>
              <a:t> </a:t>
            </a:r>
            <a:r>
              <a:rPr lang="en-US" dirty="0"/>
              <a:t>(AI1143)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183C56-9F31-30D3-0BBC-23D038496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907756"/>
            <a:ext cx="7315200" cy="165576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Department of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Software Engineering</a:t>
            </a:r>
            <a:endParaRPr lang="en-US" sz="2400" b="1" dirty="0">
              <a:solidFill>
                <a:schemeClr val="tx2">
                  <a:lumMod val="50000"/>
                </a:schemeClr>
              </a:solidFill>
              <a:latin typeface="Calibri" pitchFamily="34" charset="0"/>
            </a:endParaRPr>
          </a:p>
          <a:p>
            <a:pPr algn="l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</a:rPr>
              <a:t>Capital University of Science and Technology (CUST)</a:t>
            </a:r>
          </a:p>
        </p:txBody>
      </p:sp>
    </p:spTree>
    <p:extLst>
      <p:ext uri="{BB962C8B-B14F-4D97-AF65-F5344CB8AC3E}">
        <p14:creationId xmlns:p14="http://schemas.microsoft.com/office/powerpoint/2010/main" val="276964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B049-264E-7511-4BBD-3965F2AF9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59304-62FB-E3E9-B9DB-FE52D32E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Object-Oriented Programming (OOP), the first step in the problem-solving process is to identify the components called objects, which form the basis of the solution, and to determine how these objects/classes interact with one another</a:t>
            </a:r>
          </a:p>
          <a:p>
            <a:r>
              <a:rPr lang="en-US" dirty="0"/>
              <a:t>Some classes in a University Management System</a:t>
            </a:r>
          </a:p>
          <a:p>
            <a:pPr lvl="1"/>
            <a:r>
              <a:rPr lang="en-US" dirty="0"/>
              <a:t>Students</a:t>
            </a:r>
          </a:p>
          <a:p>
            <a:pPr lvl="1"/>
            <a:r>
              <a:rPr lang="en-US" dirty="0"/>
              <a:t>Faculty </a:t>
            </a:r>
          </a:p>
          <a:p>
            <a:pPr lvl="1"/>
            <a:r>
              <a:rPr lang="en-US" dirty="0"/>
              <a:t>Staff</a:t>
            </a:r>
          </a:p>
          <a:p>
            <a:pPr lvl="1"/>
            <a:r>
              <a:rPr lang="en-US" dirty="0"/>
              <a:t>Course</a:t>
            </a:r>
          </a:p>
          <a:p>
            <a:pPr lvl="1"/>
            <a:r>
              <a:rPr lang="en-US" dirty="0"/>
              <a:t>….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57F50-B416-C4CD-9965-F599B9BE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54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vs Object 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programming allows developing a program using a set of modules or functions</a:t>
            </a:r>
          </a:p>
          <a:p>
            <a:r>
              <a:rPr lang="en-US" dirty="0"/>
              <a:t>Object oriented programming allows constructing a program using a set of objects and their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ABB9F1-A491-A112-7B35-C9B31C7FD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" y="4001294"/>
            <a:ext cx="2743253" cy="2757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BBE7F4-8FF6-76E0-FC79-8CA805073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98" y="4079297"/>
            <a:ext cx="3031285" cy="22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1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00F5-98E6-318B-7AA0-4C86410C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7F8A9-3FAC-CD06-1D22-0CFD9B72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b="0" i="0" dirty="0">
                <a:solidFill>
                  <a:srgbClr val="202124"/>
                </a:solidFill>
                <a:effectLst/>
              </a:rPr>
              <a:t>Modularity for easier troubleshooting. </a:t>
            </a:r>
          </a:p>
          <a:p>
            <a:pPr lvl="1"/>
            <a:r>
              <a:rPr lang="en-US" sz="2800" b="0" i="0" dirty="0">
                <a:solidFill>
                  <a:srgbClr val="202124"/>
                </a:solidFill>
                <a:effectLst/>
              </a:rPr>
              <a:t>When working with object-oriented programming languages, you know exactly where to look when something goes wrong</a:t>
            </a:r>
          </a:p>
          <a:p>
            <a:r>
              <a:rPr lang="en-US" sz="3200" b="0" i="0" dirty="0">
                <a:solidFill>
                  <a:srgbClr val="202124"/>
                </a:solidFill>
                <a:effectLst/>
              </a:rPr>
              <a:t>Reuse of code through inheritance</a:t>
            </a:r>
            <a:endParaRPr lang="en-US" sz="3200" dirty="0">
              <a:solidFill>
                <a:srgbClr val="202124"/>
              </a:solidFill>
            </a:endParaRPr>
          </a:p>
          <a:p>
            <a:r>
              <a:rPr lang="en-US" sz="3200" b="0" i="0" dirty="0">
                <a:solidFill>
                  <a:srgbClr val="202124"/>
                </a:solidFill>
                <a:effectLst/>
              </a:rPr>
              <a:t>Flexibility through polymorphism</a:t>
            </a:r>
          </a:p>
          <a:p>
            <a:r>
              <a:rPr lang="en-US" sz="3200" b="0" i="0" dirty="0">
                <a:solidFill>
                  <a:srgbClr val="382E2C"/>
                </a:solidFill>
                <a:effectLst/>
              </a:rPr>
              <a:t>Effective problem solving</a:t>
            </a:r>
          </a:p>
          <a:p>
            <a:pPr lvl="1"/>
            <a:r>
              <a:rPr lang="en-US" sz="2800" b="0" i="0" dirty="0">
                <a:solidFill>
                  <a:srgbClr val="382E2C"/>
                </a:solidFill>
                <a:effectLst/>
              </a:rPr>
              <a:t>Object-oriented programming is ultimately about taking a huge problem and breaking it down to solvable chunks. </a:t>
            </a:r>
          </a:p>
          <a:p>
            <a:pPr lvl="1"/>
            <a:r>
              <a:rPr lang="en-US" sz="2800" b="0" i="0" dirty="0">
                <a:solidFill>
                  <a:srgbClr val="382E2C"/>
                </a:solidFill>
                <a:effectLst/>
              </a:rPr>
              <a:t>For each mini-problem, you write a class that does what you require.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D5FEB-AFEF-05DD-898C-47B8BF8C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B892-B9F6-583B-F047-BC896D6CD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F9DD-467E-A2C9-D9A5-AACF3811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Object-Oriented Programming using C++. </a:t>
            </a:r>
          </a:p>
          <a:p>
            <a:r>
              <a:rPr lang="en-US" dirty="0"/>
              <a:t>Objects, Data Abstraction, Data Encapsulation, Polymorphism, and Inheritance. </a:t>
            </a:r>
          </a:p>
          <a:p>
            <a:r>
              <a:rPr lang="en-US" sz="2800" dirty="0"/>
              <a:t>Member access control, templates, overloaded operators, use of C++ headers, and class libraries will be studied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13DF4-452C-953C-5F4E-22B6F3E4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4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4E23-3836-7DCD-8A74-494D43FC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1247C-179E-469C-1F98-861B98979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ea typeface="Times New Roman" panose="02020603050405020304" pitchFamily="18" charset="0"/>
              </a:rPr>
              <a:t>At the end of this course, the students should be able to</a:t>
            </a:r>
            <a:endParaRPr lang="en-US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CLO1: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Describe key concepts of object-oriented programming paradigm [C1 Remembering]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CLO2: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Interpret real world problems in terms of objects rather than procedure [C2 Understanding]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CLO3:</a:t>
            </a: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Apply object-oriented programming principles to implement small and medium scale C++ programs with simple graphical user interface [C3 Applying]</a:t>
            </a:r>
          </a:p>
          <a:p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CB6F7-15D5-DFC0-C3BA-B2DC66F7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90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CB95-5728-8DA5-3DB7-58ECAA51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CLO-PLO Mapping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F7502-EA19-EECD-AECB-BC2A0A93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43F267-455F-238A-BF74-0F26FE77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098" y="2767658"/>
            <a:ext cx="6501804" cy="246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38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fontAlgn="base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127400"/>
              </p:ext>
            </p:extLst>
          </p:nvPr>
        </p:nvGraphicFramePr>
        <p:xfrm>
          <a:off x="1334873" y="2390251"/>
          <a:ext cx="5955402" cy="258427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7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57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Grading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Marks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  Assignments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  Quizzes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15%</a:t>
                      </a:r>
                      <a:endParaRPr lang="en-US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  Project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10%</a:t>
                      </a:r>
                      <a:endParaRPr lang="en-US" sz="2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  Mid Exam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   Final Exam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40%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62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1B3B-5ECD-DB46-2852-0ABA4ABBB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F61C-6FA4-BE9C-37B3-22AA05DAB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Mr. Zaheer Ahmad</a:t>
            </a:r>
          </a:p>
          <a:p>
            <a:r>
              <a:rPr lang="en-US" dirty="0"/>
              <a:t>Education</a:t>
            </a:r>
          </a:p>
          <a:p>
            <a:pPr lvl="1"/>
            <a:r>
              <a:rPr lang="en-US" dirty="0" err="1"/>
              <a:t>Mphil</a:t>
            </a:r>
            <a:r>
              <a:rPr lang="en-US" dirty="0"/>
              <a:t> in Computer Science, COMSATS University, Islamabad, Pakistan.</a:t>
            </a:r>
          </a:p>
          <a:p>
            <a:pPr lvl="1"/>
            <a:r>
              <a:rPr lang="en-US" dirty="0"/>
              <a:t>BS, Computer Science Azad Jammu &amp; Kashmir University, Pakistan.</a:t>
            </a:r>
          </a:p>
          <a:p>
            <a:r>
              <a:rPr lang="en-US" dirty="0"/>
              <a:t>Work Experience</a:t>
            </a:r>
          </a:p>
          <a:p>
            <a:pPr lvl="1"/>
            <a:r>
              <a:rPr lang="en-US" dirty="0"/>
              <a:t>2022-2023 Visiting Lecturer UCP</a:t>
            </a:r>
          </a:p>
          <a:p>
            <a:pPr lvl="1"/>
            <a:r>
              <a:rPr lang="en-US" dirty="0"/>
              <a:t>2023 to Date. Capital University of Science and Technology, Islamabad, Pakistan</a:t>
            </a:r>
          </a:p>
          <a:p>
            <a:r>
              <a:rPr lang="en-US" altLang="zh-CN" sz="2800" dirty="0"/>
              <a:t>Office</a:t>
            </a:r>
          </a:p>
          <a:p>
            <a:pPr lvl="1"/>
            <a:r>
              <a:rPr lang="en-US" altLang="zh-CN" dirty="0"/>
              <a:t>Block J 1</a:t>
            </a:r>
            <a:r>
              <a:rPr lang="en-US" altLang="zh-CN" baseline="30000" dirty="0"/>
              <a:t>st</a:t>
            </a:r>
            <a:r>
              <a:rPr lang="en-US" altLang="zh-CN" dirty="0"/>
              <a:t> Floor, SE Office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0A2C4-3A8C-0E96-2240-847D7586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55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6ACD-0194-BD31-B683-F3C9EEC86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Text/Reference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E46A-21B7-D5C9-0578-9803CC640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Recommended Book(s)</a:t>
            </a:r>
          </a:p>
          <a:p>
            <a:pPr lvl="1" fontAlgn="base"/>
            <a:r>
              <a:rPr lang="en-US" dirty="0"/>
              <a:t>Introduction To C++ Programming, Comprehensive Version. Daniel Liang.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pPr lvl="1" fontAlgn="base"/>
            <a:r>
              <a:rPr lang="en-US" dirty="0"/>
              <a:t>Object-Oriented Programming in C++. Robert </a:t>
            </a:r>
            <a:r>
              <a:rPr lang="en-US" dirty="0" err="1"/>
              <a:t>Lafore</a:t>
            </a:r>
            <a:r>
              <a:rPr lang="en-US" dirty="0"/>
              <a:t>, 4th Edition</a:t>
            </a:r>
          </a:p>
          <a:p>
            <a:pPr fontAlgn="base"/>
            <a:r>
              <a:rPr lang="en-US" b="1" dirty="0"/>
              <a:t>Reference Book(s)</a:t>
            </a:r>
          </a:p>
          <a:p>
            <a:pPr lvl="1" fontAlgn="base"/>
            <a:r>
              <a:rPr lang="en-US" dirty="0"/>
              <a:t>C++: How To Program (Fourth Edition), </a:t>
            </a:r>
            <a:r>
              <a:rPr lang="en-US" dirty="0" err="1"/>
              <a:t>Deitel</a:t>
            </a:r>
            <a:r>
              <a:rPr lang="en-US" dirty="0"/>
              <a:t> &amp; </a:t>
            </a:r>
            <a:r>
              <a:rPr lang="en-US" dirty="0" err="1"/>
              <a:t>Deitel</a:t>
            </a:r>
            <a:r>
              <a:rPr lang="en-US" dirty="0"/>
              <a:t>, Prentice-Hall.</a:t>
            </a:r>
          </a:p>
          <a:p>
            <a:pPr lvl="1" fontAlgn="base"/>
            <a:r>
              <a:rPr lang="en-US" dirty="0"/>
              <a:t>C++ Programming: An object Oriented Approach. </a:t>
            </a:r>
            <a:r>
              <a:rPr lang="en-US" dirty="0" err="1"/>
              <a:t>Forouzan</a:t>
            </a:r>
            <a:r>
              <a:rPr lang="en-US" dirty="0"/>
              <a:t> and </a:t>
            </a:r>
            <a:r>
              <a:rPr lang="en-US" dirty="0" err="1"/>
              <a:t>Gilberg</a:t>
            </a:r>
            <a:r>
              <a:rPr lang="en-US" dirty="0"/>
              <a:t>. 2020.</a:t>
            </a:r>
          </a:p>
          <a:p>
            <a:endParaRPr lang="en-US" dirty="0"/>
          </a:p>
          <a:p>
            <a:r>
              <a:rPr lang="en-US" sz="2400" dirty="0"/>
              <a:t>Lecture Slides will be detailed enough but reading books is always a good habit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70B1D-F2F3-7512-6137-FA44FF80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1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3D1B-F21B-E157-86C6-F576D6F4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E4B09-ABD0-D53A-C1A7-ADB7E9038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Studio.</a:t>
            </a:r>
          </a:p>
          <a:p>
            <a:r>
              <a:rPr lang="en-US" dirty="0"/>
              <a:t>Dev C++.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DB48A-3108-7C95-3B86-175E4EFD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20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5B3B-32CC-AD6F-CC2A-F8CDE05B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Basic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3E28-6D6E-0BFC-C02A-BAAF455A7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General Discipline</a:t>
            </a:r>
          </a:p>
          <a:p>
            <a:pPr lvl="1"/>
            <a:r>
              <a:rPr lang="en-US" dirty="0"/>
              <a:t>DONOT use mobile phone during the lecture</a:t>
            </a:r>
          </a:p>
          <a:p>
            <a:pPr lvl="1"/>
            <a:r>
              <a:rPr lang="en-US" dirty="0"/>
              <a:t>Be on time. Attendance will be taken at the beginning of the lecture</a:t>
            </a:r>
          </a:p>
          <a:p>
            <a:r>
              <a:rPr lang="en-US" dirty="0"/>
              <a:t>Portal is your reference for this course</a:t>
            </a:r>
          </a:p>
          <a:p>
            <a:pPr lvl="1"/>
            <a:r>
              <a:rPr lang="en-US" dirty="0"/>
              <a:t>All the information and course material will be available there.</a:t>
            </a:r>
          </a:p>
          <a:p>
            <a:r>
              <a:rPr lang="en-US" dirty="0"/>
              <a:t>Send me email if you need to ask anything</a:t>
            </a:r>
          </a:p>
          <a:p>
            <a:pPr lvl="1"/>
            <a:r>
              <a:rPr lang="en-US" u="sng" dirty="0"/>
              <a:t>Zaheer.ahamd01@cust.edu.pk</a:t>
            </a:r>
          </a:p>
          <a:p>
            <a:r>
              <a:rPr lang="en-US" dirty="0"/>
              <a:t>Plagiarism in homework</a:t>
            </a:r>
          </a:p>
          <a:p>
            <a:pPr lvl="1"/>
            <a:r>
              <a:rPr lang="en-US" dirty="0"/>
              <a:t>Submit your own work</a:t>
            </a:r>
          </a:p>
          <a:p>
            <a:pPr lvl="1"/>
            <a:r>
              <a:rPr lang="en-US" dirty="0"/>
              <a:t>Plagiarized work would not be accepted at all.</a:t>
            </a:r>
          </a:p>
          <a:p>
            <a:pPr lvl="1"/>
            <a:r>
              <a:rPr lang="en-US" dirty="0"/>
              <a:t>Zero tolerance policy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EFF4-467A-B51B-C71C-6C07BDA1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7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EB62-2B64-B30A-BBB0-667B3F88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F29CD-1786-ADA3-68FF-290666BEC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 75% attendance required to appear in the final exam</a:t>
            </a:r>
          </a:p>
          <a:p>
            <a:r>
              <a:rPr lang="en-US" altLang="en-US" dirty="0"/>
              <a:t>For missed quiz/assignment I will follow university’s policy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A9735-50A1-9B5E-873B-D411D1FE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FE7A-938C-429D-ACB5-B6F59B1E81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1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/>
              <a:t>Introduction and Revision</a:t>
            </a:r>
          </a:p>
          <a:p>
            <a:pPr lvl="1" fontAlgn="base"/>
            <a:r>
              <a:rPr lang="en-US" dirty="0"/>
              <a:t>Introduction of the course</a:t>
            </a:r>
          </a:p>
          <a:p>
            <a:pPr lvl="1" fontAlgn="base"/>
            <a:r>
              <a:rPr lang="en-US" dirty="0"/>
              <a:t>Overview of Structured Programming using C++</a:t>
            </a:r>
          </a:p>
          <a:p>
            <a:pPr lvl="1" fontAlgn="base"/>
            <a:r>
              <a:rPr lang="en-US" dirty="0"/>
              <a:t>Pointers Revision</a:t>
            </a:r>
          </a:p>
          <a:p>
            <a:pPr fontAlgn="base"/>
            <a:r>
              <a:rPr lang="en-US" dirty="0"/>
              <a:t>Introduction to classes and Object Oriented Concepts</a:t>
            </a:r>
          </a:p>
          <a:p>
            <a:pPr fontAlgn="base"/>
            <a:r>
              <a:rPr lang="en-US" dirty="0"/>
              <a:t>Creating classes</a:t>
            </a:r>
          </a:p>
          <a:p>
            <a:pPr lvl="1" fontAlgn="base"/>
            <a:r>
              <a:rPr lang="en-US" dirty="0"/>
              <a:t>Function Overloading, C++ Constructor &amp; Destructor</a:t>
            </a:r>
          </a:p>
          <a:p>
            <a:pPr lvl="1" fontAlgn="base"/>
            <a:r>
              <a:rPr lang="en-US" dirty="0"/>
              <a:t>Importance of Destructor, Calling sequence of Constructor &amp; Destructor for multiple objects</a:t>
            </a:r>
          </a:p>
          <a:p>
            <a:pPr lvl="1" fontAlgn="base"/>
            <a:r>
              <a:rPr lang="en-US" dirty="0"/>
              <a:t>Preventing changes in data members from a method: </a:t>
            </a:r>
            <a:r>
              <a:rPr lang="en-US" dirty="0" err="1"/>
              <a:t>const</a:t>
            </a:r>
            <a:r>
              <a:rPr lang="en-US" dirty="0"/>
              <a:t> method</a:t>
            </a:r>
          </a:p>
          <a:p>
            <a:pPr lvl="1" fontAlgn="base"/>
            <a:r>
              <a:rPr lang="en-US" dirty="0"/>
              <a:t>Pointer to Object; Object as argument to function (call by value &amp; call by reference);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127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 Friend classes and functions</a:t>
            </a:r>
          </a:p>
          <a:p>
            <a:pPr lvl="1" fontAlgn="base"/>
            <a:r>
              <a:rPr lang="en-US" dirty="0"/>
              <a:t>Friend functions</a:t>
            </a:r>
          </a:p>
          <a:p>
            <a:pPr lvl="1" fontAlgn="base"/>
            <a:r>
              <a:rPr lang="en-US" dirty="0"/>
              <a:t>Friend class</a:t>
            </a:r>
          </a:p>
          <a:p>
            <a:pPr fontAlgn="base"/>
            <a:r>
              <a:rPr lang="en-US" dirty="0"/>
              <a:t> Operator overloading</a:t>
            </a:r>
          </a:p>
          <a:p>
            <a:pPr lvl="1" fontAlgn="base"/>
            <a:r>
              <a:rPr lang="en-US" dirty="0"/>
              <a:t>Operator Overloading</a:t>
            </a:r>
          </a:p>
          <a:p>
            <a:pPr lvl="1" fontAlgn="base"/>
            <a:r>
              <a:rPr lang="en-US" dirty="0"/>
              <a:t>Binary Operator NOT receiving Instance of class as 1st operand</a:t>
            </a:r>
          </a:p>
          <a:p>
            <a:pPr lvl="1" fontAlgn="base"/>
            <a:r>
              <a:rPr lang="en-US" dirty="0"/>
              <a:t>Overloading Binary Operators for I/O stream</a:t>
            </a:r>
          </a:p>
          <a:p>
            <a:pPr lvl="1" fontAlgn="base"/>
            <a:r>
              <a:rPr lang="en-US" dirty="0"/>
              <a:t>Overloading Unary Operator: as member, as non-member</a:t>
            </a:r>
          </a:p>
          <a:p>
            <a:pPr lvl="1" fontAlgn="base"/>
            <a:r>
              <a:rPr lang="en-US" dirty="0"/>
              <a:t>Unusual Operators: ++, --, [ ] (set &amp; get, both versions), type-cast</a:t>
            </a:r>
          </a:p>
          <a:p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852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 Inheritance in OOP</a:t>
            </a:r>
          </a:p>
          <a:p>
            <a:pPr lvl="1" fontAlgn="base"/>
            <a:r>
              <a:rPr lang="en-US" dirty="0"/>
              <a:t>C++ Inheritance Concepts</a:t>
            </a:r>
          </a:p>
          <a:p>
            <a:pPr lvl="1" fontAlgn="base"/>
            <a:r>
              <a:rPr lang="en-US" dirty="0"/>
              <a:t>Relationships in OOP</a:t>
            </a:r>
          </a:p>
          <a:p>
            <a:pPr lvl="1" fontAlgn="base"/>
            <a:r>
              <a:rPr lang="en-US" dirty="0"/>
              <a:t>C++  Multiple Level Inheritance, Multiple Inheritance</a:t>
            </a:r>
          </a:p>
          <a:p>
            <a:pPr fontAlgn="base"/>
            <a:r>
              <a:rPr lang="en-US" dirty="0"/>
              <a:t>Virtual classes and Polymorphism</a:t>
            </a:r>
          </a:p>
          <a:p>
            <a:pPr lvl="1" fontAlgn="base"/>
            <a:r>
              <a:rPr lang="en-US" dirty="0"/>
              <a:t>Virtual inheritance</a:t>
            </a:r>
          </a:p>
          <a:p>
            <a:pPr lvl="1" fontAlgn="base"/>
            <a:r>
              <a:rPr lang="en-US" dirty="0"/>
              <a:t>Polymorphism in C++ and Java</a:t>
            </a:r>
          </a:p>
          <a:p>
            <a:pPr lvl="1" fontAlgn="base"/>
            <a:r>
              <a:rPr lang="en-US" dirty="0"/>
              <a:t>Virtual Functions</a:t>
            </a:r>
          </a:p>
          <a:p>
            <a:pPr lvl="1" fontAlgn="base"/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19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  Streams</a:t>
            </a:r>
          </a:p>
          <a:p>
            <a:pPr lvl="1" fontAlgn="base"/>
            <a:r>
              <a:rPr lang="en-US" dirty="0"/>
              <a:t>C++ Streams</a:t>
            </a:r>
          </a:p>
          <a:p>
            <a:pPr fontAlgn="base"/>
            <a:r>
              <a:rPr lang="en-US" dirty="0"/>
              <a:t> Template classes and functions</a:t>
            </a:r>
          </a:p>
          <a:p>
            <a:pPr lvl="1" fontAlgn="base"/>
            <a:r>
              <a:rPr lang="en-US" dirty="0"/>
              <a:t>Function Template</a:t>
            </a:r>
          </a:p>
          <a:p>
            <a:pPr lvl="1" fontAlgn="base"/>
            <a:r>
              <a:rPr lang="en-US" dirty="0"/>
              <a:t>Class Template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38F3D-8601-4161-9A30-61F1DD4FE31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18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660</TotalTime>
  <Words>773</Words>
  <Application>Microsoft Office PowerPoint</Application>
  <PresentationFormat>On-screen Show (4:3)</PresentationFormat>
  <Paragraphs>135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Object Oriented Programming  (AI1143)</vt:lpstr>
      <vt:lpstr>Object-Oriented Programming</vt:lpstr>
      <vt:lpstr>Structured vs Object Oriented Programming</vt:lpstr>
      <vt:lpstr>Benefits of OOP</vt:lpstr>
      <vt:lpstr>Course Objectives</vt:lpstr>
      <vt:lpstr>Course Learning Outcomes</vt:lpstr>
      <vt:lpstr>CLO-PLO Mapping</vt:lpstr>
      <vt:lpstr>Marks Distribution</vt:lpstr>
      <vt:lpstr>Instructor</vt:lpstr>
      <vt:lpstr>Text/Reference Books</vt:lpstr>
      <vt:lpstr>Required Software</vt:lpstr>
      <vt:lpstr>Some Basic Rules</vt:lpstr>
      <vt:lpstr>Attendance Policy</vt:lpstr>
      <vt:lpstr>Contents</vt:lpstr>
      <vt:lpstr>Contents Cont..</vt:lpstr>
      <vt:lpstr>Contents Cont..</vt:lpstr>
      <vt:lpstr>Contents 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Umair</dc:creator>
  <cp:lastModifiedBy>Zaheer Ahmad/SE</cp:lastModifiedBy>
  <cp:revision>105</cp:revision>
  <dcterms:created xsi:type="dcterms:W3CDTF">2022-09-23T06:31:02Z</dcterms:created>
  <dcterms:modified xsi:type="dcterms:W3CDTF">2026-03-05T03:52:31Z</dcterms:modified>
</cp:coreProperties>
</file>