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7" r:id="rId2"/>
    <p:sldId id="288" r:id="rId3"/>
    <p:sldId id="256" r:id="rId4"/>
    <p:sldId id="257" r:id="rId5"/>
    <p:sldId id="258" r:id="rId6"/>
    <p:sldId id="259" r:id="rId7"/>
    <p:sldId id="260" r:id="rId8"/>
    <p:sldId id="261" r:id="rId9"/>
    <p:sldId id="275" r:id="rId10"/>
    <p:sldId id="262" r:id="rId11"/>
    <p:sldId id="276" r:id="rId12"/>
    <p:sldId id="263" r:id="rId13"/>
    <p:sldId id="289" r:id="rId14"/>
    <p:sldId id="264" r:id="rId15"/>
    <p:sldId id="265" r:id="rId16"/>
    <p:sldId id="266" r:id="rId17"/>
    <p:sldId id="267" r:id="rId18"/>
    <p:sldId id="268" r:id="rId19"/>
    <p:sldId id="274" r:id="rId20"/>
    <p:sldId id="281" r:id="rId21"/>
    <p:sldId id="280" r:id="rId22"/>
    <p:sldId id="269" r:id="rId23"/>
    <p:sldId id="270" r:id="rId24"/>
    <p:sldId id="271" r:id="rId25"/>
    <p:sldId id="272" r:id="rId26"/>
    <p:sldId id="282" r:id="rId27"/>
    <p:sldId id="283" r:id="rId28"/>
    <p:sldId id="284" r:id="rId29"/>
    <p:sldId id="273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6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97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694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645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369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50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92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91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151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9739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0519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33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9054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2926080" cy="292608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291840"/>
            <a:ext cx="1828800" cy="1828800"/>
          </a:xfrm>
          <a:prstGeom prst="ellipse">
            <a:avLst/>
          </a:prstGeom>
          <a:solidFill>
            <a:srgbClr val="FFD54F">
              <a:alpha val="22000"/>
            </a:srgbClr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CADCFC">
              <a:alpha val="16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73152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Chapter 16: Wave </a:t>
            </a:r>
            <a:r>
              <a:rPr kumimoji="0" lang="en-US" sz="4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Motion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Physics for Scientists &amp; Engineers  ·  Serway &amp; Jewett / Halliday, Resnick &amp; Walker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I: Wave Basics — Pulses · Parameters · Speed · Energy · Reflection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II: Superposition · Interference · Phasors · Wave Equation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62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is a Wave?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very beginning — the stone in the lake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wave is a disturbance that travels through a medium, carrying energy but NOT matter.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920240"/>
            <a:ext cx="843991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Stone hits water → ripples spread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leaf on the surface bobs UP AND DOWN but does not travel to shore. The water stays put. The disturbance travels.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2715768"/>
            <a:ext cx="64008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715768"/>
            <a:ext cx="843991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523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0449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of motion travels. The ENERGY from the stone travels outward. The water molecules themselves do NOT move to shore.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511296"/>
            <a:ext cx="64008" cy="658368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511296"/>
            <a:ext cx="843991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exist?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competing properties: Elasticity (restoring force pulls back) + Inertia (mass overshoots). Their dance = oscillation. Connected particles spread the disturbance.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4343400"/>
            <a:ext cx="41605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70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D40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CARRIES: Energy · Momentum · Information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4343400"/>
            <a:ext cx="416052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370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7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does NOT CARRY: Matter (particles stay in place)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986" y="1617073"/>
            <a:ext cx="4349974" cy="67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4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| Chapter 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Waves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&amp; Longitudinal Waves · Wavelength · Frequency · Amplitude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Physics | BS Engineering | Chapter 16 – Waves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a wave and explain how it transports energy without transferring mass.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Distinguish between mechanical, electromagnetic, and matter waves.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 and compare transverse vs. longitudinal waves with real examples.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Define wavelength λ, amplitude A, period T, and frequency f.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Apply the fundamental wave equation:  v = f λ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Solve Halliday-style problems on wave properties.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Wave?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Wave?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93648" y="923544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is a disturbance that propagates through a medium (or space),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energy from one place to another.</a:t>
            </a:r>
            <a:endParaRPr lang="en-US" sz="14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buNone/>
            </a:pPr>
            <a:r>
              <a:rPr lang="en-US" sz="14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medium does NOT travel with the wave — only energy does.</a:t>
            </a:r>
            <a:endParaRPr lang="en-US" sz="14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In a 'Mexican wave' at a stadium, people stay in their seats but the visible wave travels around the arena</a:t>
            </a:r>
            <a:r>
              <a:rPr lang="en-US" sz="13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450" dirty="0" smtClean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endParaRPr lang="en-US" sz="1450" dirty="0" smtClean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endParaRPr lang="en-US" sz="1450" dirty="0" smtClean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types: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91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960120"/>
            <a:ext cx="3291840" cy="329184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69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325880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medium. Governed by Newton's laws.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sound, water, seismic waves.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304288"/>
            <a:ext cx="3291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304288"/>
            <a:ext cx="329184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313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2670048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medium needed. Travel at c = 3×10⁸ m/s.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light, X-rays, radio waves.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648456"/>
            <a:ext cx="3291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648456"/>
            <a:ext cx="3291840" cy="32918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657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Waves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4014216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Quantum-mechanical waves associated with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particles: electrons, protons (de Broglie 1924).</a:t>
            </a:r>
            <a:endParaRPr lang="en-US" sz="1200" dirty="0"/>
          </a:p>
        </p:txBody>
      </p:sp>
      <p:sp>
        <p:nvSpPr>
          <p:cNvPr id="18" name="Shape 5"/>
          <p:cNvSpPr/>
          <p:nvPr/>
        </p:nvSpPr>
        <p:spPr>
          <a:xfrm>
            <a:off x="320040" y="2235200"/>
            <a:ext cx="45719" cy="9250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6"/>
          <p:cNvSpPr/>
          <p:nvPr/>
        </p:nvSpPr>
        <p:spPr>
          <a:xfrm>
            <a:off x="384048" y="2235200"/>
            <a:ext cx="5102352" cy="9250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502920" y="2347341"/>
            <a:ext cx="2583180" cy="385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hits water → ripples spread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502920" y="2639949"/>
            <a:ext cx="4919928" cy="385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on the surface bobs UP AND DOWN but does not travel to shore. The water stays put. The disturbance travels.</a:t>
            </a:r>
            <a:endParaRPr lang="en-US" sz="1100" dirty="0"/>
          </a:p>
        </p:txBody>
      </p:sp>
      <p:sp>
        <p:nvSpPr>
          <p:cNvPr id="22" name="Shape 9"/>
          <p:cNvSpPr/>
          <p:nvPr/>
        </p:nvSpPr>
        <p:spPr>
          <a:xfrm>
            <a:off x="320040" y="3030728"/>
            <a:ext cx="45719" cy="9250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10"/>
          <p:cNvSpPr/>
          <p:nvPr/>
        </p:nvSpPr>
        <p:spPr>
          <a:xfrm>
            <a:off x="384048" y="3030728"/>
            <a:ext cx="5102352" cy="9250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11"/>
          <p:cNvSpPr/>
          <p:nvPr/>
        </p:nvSpPr>
        <p:spPr>
          <a:xfrm>
            <a:off x="502920" y="3079686"/>
            <a:ext cx="1160882" cy="385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travels?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502920" y="3377628"/>
            <a:ext cx="4919928" cy="385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of motion travels. The ENERGY from the stone travels outward. The water molecules themselves do NOT move to shore.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Waves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Waves — Medium Moves Perpendicular to Wave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particles of the medium oscillate </a:t>
            </a:r>
            <a:r>
              <a:rPr lang="en-US" sz="145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direction of wave propagation.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 rot="-3460316">
            <a:off x="365760" y="2286000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3390245">
            <a:off x="457200" y="2141513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3239510">
            <a:off x="548640" y="2003341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984261">
            <a:off x="640080" y="1877522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582531">
            <a:off x="731520" y="1769556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972321">
            <a:off x="822960" y="1684161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096818">
            <a:off x="914400" y="1625069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594863"/>
            <a:ext cx="9144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96818">
            <a:off x="1097280" y="1594863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972321">
            <a:off x="1188720" y="1625069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582531">
            <a:off x="1280160" y="1684161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984261">
            <a:off x="1371600" y="1769556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3239510">
            <a:off x="1463040" y="1877522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3390245">
            <a:off x="1554480" y="2003341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460316">
            <a:off x="1645920" y="2141513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3460316">
            <a:off x="1737360" y="2286000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3390245">
            <a:off x="1828800" y="2430487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3239510">
            <a:off x="1920240" y="2568659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984261">
            <a:off x="2011680" y="2694478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582531">
            <a:off x="2103120" y="2802444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972321">
            <a:off x="2194560" y="2887839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96818">
            <a:off x="2286000" y="2946931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977137"/>
            <a:ext cx="9144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1096818">
            <a:off x="2468880" y="2977137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1972321">
            <a:off x="2560320" y="2946931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2582531">
            <a:off x="2651760" y="2887839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2984261">
            <a:off x="2743200" y="2802444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3239510">
            <a:off x="2834640" y="2694478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3390245">
            <a:off x="2926080" y="2568659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3460316">
            <a:off x="3017520" y="2430487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3460316">
            <a:off x="3108960" y="2286000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3390245">
            <a:off x="3200400" y="2141513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3239510">
            <a:off x="3291840" y="2003341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2984261">
            <a:off x="3383280" y="1877522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582531">
            <a:off x="3474720" y="1769556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972321">
            <a:off x="3566160" y="1684161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096818">
            <a:off x="3657600" y="1625069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1594863"/>
            <a:ext cx="9144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96818">
            <a:off x="3840480" y="1594863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972321">
            <a:off x="3931920" y="1625069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582531">
            <a:off x="4023360" y="1684161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984261">
            <a:off x="4114800" y="1769556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3239510">
            <a:off x="4206240" y="1877522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3390245">
            <a:off x="4297680" y="2003341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3460316">
            <a:off x="4389120" y="2141513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3460316">
            <a:off x="4480560" y="2286000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3390245">
            <a:off x="4572000" y="2430487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3239510">
            <a:off x="4663440" y="2568659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984261">
            <a:off x="4754880" y="2694478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582531">
            <a:off x="4846320" y="2802444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972321">
            <a:off x="4937760" y="2887839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96818">
            <a:off x="5029200" y="2946931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2977137"/>
            <a:ext cx="9144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1096818">
            <a:off x="5212080" y="2977137"/>
            <a:ext cx="963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1972321">
            <a:off x="5303520" y="2946931"/>
            <a:ext cx="10887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2582531">
            <a:off x="5394960" y="2887839"/>
            <a:ext cx="1251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2984261">
            <a:off x="5486400" y="2802444"/>
            <a:ext cx="14148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3239510">
            <a:off x="5577840" y="2694478"/>
            <a:ext cx="1555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3390245">
            <a:off x="5669280" y="2568659"/>
            <a:ext cx="1656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3460316">
            <a:off x="5760720" y="2430487"/>
            <a:ext cx="17099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2286000"/>
            <a:ext cx="548640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365760" y="1325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propagation  →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84048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Medium oscillates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Transverse wave on a string — crests &amp; troughs visible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35040" y="914400"/>
            <a:ext cx="2834640" cy="310896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172200" y="10058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 (EM wave)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Guitar / violin string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Seismic S-waves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Ripples on water surface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shake one end of a rope up-and-down — the 'hump' travels forward while the rope moves only up and down.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16-3a   Transverse Waves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Particle motion ⊥ Wave propagation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303520" cy="2926080"/>
          </a:xfrm>
          <a:prstGeom prst="rect">
            <a:avLst/>
          </a:prstGeom>
          <a:solidFill>
            <a:srgbClr val="07152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33472"/>
            <a:ext cx="5029200" cy="0"/>
          </a:xfrm>
          <a:prstGeom prst="line">
            <a:avLst/>
          </a:prstGeom>
          <a:noFill/>
          <a:ln w="12700">
            <a:solidFill>
              <a:srgbClr val="A8C0D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502920" y="190195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77240" y="1371600"/>
            <a:ext cx="274319" cy="530352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371600"/>
            <a:ext cx="274320" cy="530352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190195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263347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3364992"/>
            <a:ext cx="274320" cy="530352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48840" y="3383280"/>
            <a:ext cx="274320" cy="512064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23160" y="2615184"/>
            <a:ext cx="274320" cy="749808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697480" y="190195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971800" y="1426464"/>
            <a:ext cx="274320" cy="475488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371600"/>
            <a:ext cx="274320" cy="530352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90195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633472"/>
            <a:ext cx="274320" cy="731520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3364992"/>
            <a:ext cx="274320" cy="530352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343400" y="3346705"/>
            <a:ext cx="274320" cy="548639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617720" y="2615184"/>
            <a:ext cx="365760" cy="749808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1371600"/>
            <a:ext cx="0" cy="457200"/>
          </a:xfrm>
          <a:prstGeom prst="line">
            <a:avLst/>
          </a:prstGeom>
          <a:noFill/>
          <a:ln w="19050">
            <a:solidFill>
              <a:srgbClr val="F4B94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3152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48840" y="3456432"/>
            <a:ext cx="0" cy="457200"/>
          </a:xfrm>
          <a:prstGeom prst="line">
            <a:avLst/>
          </a:prstGeom>
          <a:noFill/>
          <a:ln w="19050">
            <a:solidFill>
              <a:srgbClr val="F4B94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28800" y="39136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TROUGH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74920" y="1371600"/>
            <a:ext cx="0" cy="1261872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B9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51560" y="4041648"/>
            <a:ext cx="25603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059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◄─────── λ ───────►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1261872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→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560320" y="1261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↕ Particle motion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33872" y="11887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33872" y="1572768"/>
            <a:ext cx="2999232" cy="566928"/>
          </a:xfrm>
          <a:prstGeom prst="rect">
            <a:avLst/>
          </a:prstGeom>
          <a:solidFill>
            <a:srgbClr val="0C1E3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1609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25312" y="18470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Highest point above equilibrium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33872" y="2231136"/>
            <a:ext cx="2999232" cy="566928"/>
          </a:xfrm>
          <a:prstGeom prst="rect">
            <a:avLst/>
          </a:prstGeom>
          <a:solidFill>
            <a:srgbClr val="0C1E3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2267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Trough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25312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Lowest point below equilibrium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33872" y="2889504"/>
            <a:ext cx="2999232" cy="566928"/>
          </a:xfrm>
          <a:prstGeom prst="rect">
            <a:avLst/>
          </a:prstGeom>
          <a:solidFill>
            <a:srgbClr val="0C1E3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Amplitude yₘ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25312" y="31638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displacement (always positive)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833872" y="3547872"/>
            <a:ext cx="2999232" cy="566928"/>
          </a:xfrm>
          <a:prstGeom prst="rect">
            <a:avLst/>
          </a:prstGeom>
          <a:solidFill>
            <a:srgbClr val="0C1E3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25312" y="3584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λ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25312" y="3822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Crest-to-crest distance (m)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833872" y="4206240"/>
            <a:ext cx="2999232" cy="566928"/>
          </a:xfrm>
          <a:prstGeom prst="rect">
            <a:avLst/>
          </a:prstGeom>
          <a:solidFill>
            <a:srgbClr val="0C1E3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4242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Particle motion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925312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to wave direction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waves on strings, electromagnetic waves, seismic S-waves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78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Waves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16-3b   Longitudinal Waves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motion ∥ Wave propagation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1691640"/>
          </a:xfrm>
          <a:prstGeom prst="rect">
            <a:avLst/>
          </a:prstGeom>
          <a:solidFill>
            <a:srgbClr val="07152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1062990" cy="1508760"/>
          </a:xfrm>
          <a:prstGeom prst="rect">
            <a:avLst/>
          </a:prstGeom>
          <a:solidFill>
            <a:srgbClr val="1A4080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3030" y="1261872"/>
            <a:ext cx="1062990" cy="150876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46020" y="1261872"/>
            <a:ext cx="1062990" cy="1508760"/>
          </a:xfrm>
          <a:prstGeom prst="rect">
            <a:avLst/>
          </a:prstGeom>
          <a:solidFill>
            <a:srgbClr val="1A4080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9010" y="1261872"/>
            <a:ext cx="1062990" cy="150876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61872"/>
            <a:ext cx="1062990" cy="1508760"/>
          </a:xfrm>
          <a:prstGeom prst="rect">
            <a:avLst/>
          </a:prstGeom>
          <a:solidFill>
            <a:srgbClr val="1A4080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4990" y="1261872"/>
            <a:ext cx="1062990" cy="150876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7980" y="1261872"/>
            <a:ext cx="1062990" cy="1508760"/>
          </a:xfrm>
          <a:prstGeom prst="rect">
            <a:avLst/>
          </a:prstGeom>
          <a:solidFill>
            <a:srgbClr val="1A4080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60970" y="1261872"/>
            <a:ext cx="1062990" cy="150876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303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4602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0901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3499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9798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60970" y="1920240"/>
            <a:ext cx="1062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29077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Compression (high density, high pressure)   R = Rarefaction (low density, low pressure)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11887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◄──────────────────────── Wave direction ────────────────────────────►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03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4602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0901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3499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9798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0970" y="234086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218688"/>
            <a:ext cx="4187952" cy="1691640"/>
          </a:xfrm>
          <a:prstGeom prst="rect">
            <a:avLst/>
          </a:prstGeom>
          <a:solidFill>
            <a:srgbClr val="0C1E3C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29768" y="3584448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pushed together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 region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pressure zone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bands in diagram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36008" y="3218688"/>
            <a:ext cx="4187952" cy="1691640"/>
          </a:xfrm>
          <a:prstGeom prst="rect">
            <a:avLst/>
          </a:prstGeom>
          <a:solidFill>
            <a:srgbClr val="0C1E3C"/>
          </a:solidFill>
          <a:ln w="19050">
            <a:solidFill>
              <a:srgbClr val="A8C0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745736" y="3584448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spread apart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density region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pressure zone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bands in diagram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sound waves in air, seismic P-waves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9131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Waves — Compressions &amp; Rarefactions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oscillate </a:t>
            </a:r>
            <a:r>
              <a:rPr lang="en-US" sz="145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direction of wave propagation.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7774" y="1417320"/>
            <a:ext cx="96012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6961" y="1417320"/>
            <a:ext cx="197719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7233" y="1417320"/>
            <a:ext cx="277254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7259" y="1417320"/>
            <a:ext cx="31728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1402" y="1417320"/>
            <a:ext cx="309075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8768" y="1417320"/>
            <a:ext cx="254424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3400" y="1417320"/>
            <a:ext cx="165240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0531" y="1417320"/>
            <a:ext cx="131058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2254" y="1417320"/>
            <a:ext cx="22769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8329" y="1417320"/>
            <a:ext cx="29562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417320"/>
            <a:ext cx="32004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8409" y="1417320"/>
            <a:ext cx="29562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2414" y="1417320"/>
            <a:ext cx="22769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0771" y="1417320"/>
            <a:ext cx="131058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3720" y="1417320"/>
            <a:ext cx="165240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9168" y="1417320"/>
            <a:ext cx="254424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1882" y="1417320"/>
            <a:ext cx="309075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7819" y="1417320"/>
            <a:ext cx="317282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7873" y="1417320"/>
            <a:ext cx="277254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7681" y="1417320"/>
            <a:ext cx="197719" cy="50292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propagation 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011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(particles close)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011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(particles spread)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vs. Longitudinal: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6492240" cy="1828800"/>
        </p:xfrm>
        <a:graphic>
          <a:graphicData uri="http://schemas.openxmlformats.org/drawingml/2006/table">
            <a:tbl>
              <a:tblPr/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Transverse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Longitudinal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 motion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⊥ to wave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∥ to wave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Disturbance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Crest &amp; Trough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Compression/Rarefaction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Light, string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Sound in air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7040880" y="914400"/>
            <a:ext cx="1828800" cy="393192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150608" y="1005840"/>
            <a:ext cx="16093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Sound in air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Sound in water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Seismic P-waves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Slinky spring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Types of Waves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vs Longitudinal — the key difference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Waves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"Trans" = across. Particles move PERPENDICULAR to wave direction.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↑↓ Particle motion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Wave direction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715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⊥ (perpendicular)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64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Waves on a string (rope)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Light (electromagnetic) waves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16966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S-waves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1605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F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78992"/>
            <a:ext cx="4160520" cy="43891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972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Waves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"Longitudinal" = along. Particles move PARALLEL to wave direction.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C4D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↔ Particle motion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0" y="24231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Wave direction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0" y="2715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∥ (parallel)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9B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Compressions &amp; rarefactions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0600" y="3675888"/>
            <a:ext cx="146304" cy="14630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Sound waves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0" y="4059936"/>
            <a:ext cx="146304" cy="14630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Pressure waves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00600" y="4443984"/>
            <a:ext cx="146304" cy="14630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407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P-waves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23" y="3364992"/>
            <a:ext cx="1981117" cy="121116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561" y="2108537"/>
            <a:ext cx="1760119" cy="108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71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Wavelength, Amplitude &amp; Period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Properties: Wavelength, Amplitude &amp; Period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-3368960">
            <a:off x="365760" y="1851660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297304">
            <a:off x="460248" y="1710785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3143702">
            <a:off x="554736" y="1576067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885326">
            <a:off x="649224" y="1453394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483137">
            <a:off x="743712" y="1348127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82378">
            <a:off x="838200" y="1264867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038700">
            <a:off x="932688" y="1207252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7176" y="1177801"/>
            <a:ext cx="9448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38700">
            <a:off x="1121664" y="1177801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882378">
            <a:off x="1216152" y="1207252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483137">
            <a:off x="1310640" y="1264867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885326">
            <a:off x="1405128" y="1348127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143702">
            <a:off x="1499616" y="1453394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3297304">
            <a:off x="1594104" y="1576067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3368960">
            <a:off x="1688592" y="1710785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368960">
            <a:off x="1783080" y="1851660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3297304">
            <a:off x="1877568" y="1992535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3143702">
            <a:off x="1972056" y="2127253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885326">
            <a:off x="2066544" y="2249926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483137">
            <a:off x="2161032" y="2355193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882378">
            <a:off x="2255520" y="2438453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38700">
            <a:off x="2350008" y="2496068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4496" y="2525519"/>
            <a:ext cx="9448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1038700">
            <a:off x="2538984" y="2525519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1882378">
            <a:off x="2633472" y="2496068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2483137">
            <a:off x="2727960" y="2438453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2885326">
            <a:off x="2822448" y="2355193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3143702">
            <a:off x="2916936" y="2249926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3297304">
            <a:off x="3011424" y="2127253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3368960">
            <a:off x="3105912" y="1992535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3368960">
            <a:off x="3200400" y="1851660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3297304">
            <a:off x="3294888" y="1710785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3143702">
            <a:off x="3389376" y="1576067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885326">
            <a:off x="3483864" y="1453394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2483137">
            <a:off x="3578352" y="1348127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882378">
            <a:off x="3672840" y="1264867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038700">
            <a:off x="3767328" y="1207252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1816" y="1177801"/>
            <a:ext cx="9448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38700">
            <a:off x="3956304" y="1177801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882378">
            <a:off x="4050792" y="1207252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483137">
            <a:off x="4145280" y="1264867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885326">
            <a:off x="4239768" y="1348127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3143702">
            <a:off x="4334256" y="1453394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3297304">
            <a:off x="4428744" y="1576067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3368960">
            <a:off x="4523232" y="1710785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3368960">
            <a:off x="4617720" y="1851660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3297304">
            <a:off x="4712208" y="1992535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3143702">
            <a:off x="4806696" y="2127253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885326">
            <a:off x="4901184" y="2249926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483137">
            <a:off x="4995672" y="2355193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882378">
            <a:off x="5090160" y="2438453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38700">
            <a:off x="5184648" y="2496068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79136" y="2525519"/>
            <a:ext cx="9448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1038700">
            <a:off x="5373624" y="2525519"/>
            <a:ext cx="989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1882378">
            <a:off x="5468112" y="2496068"/>
            <a:ext cx="11066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483137">
            <a:off x="5562600" y="2438453"/>
            <a:ext cx="12593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2885326">
            <a:off x="5657088" y="2355193"/>
            <a:ext cx="14145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3143702">
            <a:off x="5751576" y="2249926"/>
            <a:ext cx="15484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3297304">
            <a:off x="5846064" y="2127253"/>
            <a:ext cx="16455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3368960">
            <a:off x="5940552" y="1992535"/>
            <a:ext cx="16962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1851660"/>
            <a:ext cx="566928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417320" y="1851660"/>
            <a:ext cx="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122934" y="1196740"/>
            <a:ext cx="0" cy="59436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1145234" y="142967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 flipV="1">
            <a:off x="1118824" y="1152359"/>
            <a:ext cx="2837271" cy="11089"/>
          </a:xfrm>
          <a:prstGeom prst="line">
            <a:avLst/>
          </a:prstGeom>
          <a:noFill/>
          <a:ln w="25400">
            <a:solidFill>
              <a:srgbClr val="2D7D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14241" y="952265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λ →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17920" y="960120"/>
            <a:ext cx="2697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217920" y="960120"/>
            <a:ext cx="82296" cy="8869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64224" y="10149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 A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364224" y="128930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displacement from equilibrium.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∝ A².  Unit: 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217920" y="1965960"/>
            <a:ext cx="2697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17920" y="1965960"/>
            <a:ext cx="82296" cy="88696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4224" y="202082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 λ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364224" y="229514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two identical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points.  Unit: m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217920" y="2971800"/>
            <a:ext cx="2697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217920" y="2971800"/>
            <a:ext cx="82296" cy="88696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64224" y="30266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 T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364224" y="330098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one complete oscillation.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seconds (s)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217920" y="3977640"/>
            <a:ext cx="2697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217920" y="3977640"/>
            <a:ext cx="82296" cy="8869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64224" y="40325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 f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364224" y="4306824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per second.  f = 1/T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Hz = s⁻¹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Period — Physical Meaning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(f): 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complete wave cycles passing a fixed point per second.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(T): </a:t>
            </a: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required for one complete oscillation.</a:t>
            </a:r>
            <a:endParaRPr lang="en-US" sz="1500" dirty="0"/>
          </a:p>
          <a:p>
            <a:pPr marL="0" indent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if one ocean swell passes every 8 s, then T = 8 s and f = 0.125 Hz.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7432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↔ Frequency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 1 / 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" y="3465576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in Hz, T in seconds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7432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2798064"/>
            <a:ext cx="2560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 =  2πf  =  2π/T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56432" y="3465576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in rad/s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42316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2542032"/>
            <a:ext cx="2203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Number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798064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=  2π / λ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73952" y="3465576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in m⁻¹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8587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hearing: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Hz – 20 000 Hz     </a:t>
            </a: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light: 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~4×10¹⁴ – 7×10¹⁴ Hz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2793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frequency of a wave depends only on its source, not the medium through which it travels.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&amp; the Fundamental Equation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— v = f 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reasoning: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period T, the wave crest advances exactly one wavelength λ.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 v  =  distance / time  =  λ / 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 T = 1/f, substituting gives the fundamental wave equation: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331720"/>
            <a:ext cx="6400800" cy="1417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233172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=  f λ  =  λ / 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wave speed (m/s)    f = frequency (Hz)    λ = wavelength (m)    T = period 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equation holds for ALL wave types: mechanical, electromagnetic, and matter waves.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Speed Equation: v = fλ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 and what it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5852160" cy="777240"/>
          </a:xfrm>
          <a:prstGeom prst="rect">
            <a:avLst/>
          </a:prstGeom>
          <a:solidFill>
            <a:srgbClr val="0D1B45"/>
          </a:solidFill>
          <a:ln w="1905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9072" y="1005840"/>
            <a:ext cx="5705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=  fλ  =  ω/k  =  λ/T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3258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In one period T, one wavelength λ passes a fixed point. Speed = distance/time = λ/T = fλ.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28346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controls 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(your hand shaking) sets the frequency. Shake faster → higher f. The medium doesn't change 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423160"/>
            <a:ext cx="283464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controls 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√(T/μ). The string properties determine wave speed. Changing f or A does NOT change 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43E97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423160"/>
            <a:ext cx="2834640" cy="40233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v/f follows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source sets f and medium sets v, the wavelength has no choice: λ = v/f. It's a result, not a cause.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guitar string — thinner string (μ↓) → v↑ → for same f, λ↑ (longer wavelength). Higher pitch = higher f, not higher v.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99259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  v = fλ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from constant-phase analysis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88720"/>
            <a:ext cx="4224528" cy="1572768"/>
          </a:xfrm>
          <a:prstGeom prst="rect">
            <a:avLst/>
          </a:prstGeom>
          <a:solidFill>
            <a:srgbClr val="0C1B36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80160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128016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point of constant phase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" y="160934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Follow a specific crest (or any fixed phase point) as the wave moves.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Mathematically, set the phase argument constant: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2336" y="2048256"/>
            <a:ext cx="4005072" cy="530352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04825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kx − ωt = constant     [Eq. 16-11]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" y="2907792"/>
            <a:ext cx="4224528" cy="1572768"/>
          </a:xfrm>
          <a:prstGeom prst="rect">
            <a:avLst/>
          </a:prstGeom>
          <a:solidFill>
            <a:srgbClr val="0C1B36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99232"/>
            <a:ext cx="502920" cy="50292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8408" y="29992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with respect to time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332841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Taking d/dt of both sides (x varies with t as the phase moves):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2336" y="3767328"/>
            <a:ext cx="4005072" cy="530352"/>
          </a:xfrm>
          <a:prstGeom prst="rect">
            <a:avLst/>
          </a:prstGeom>
          <a:solidFill>
            <a:srgbClr val="0D2D5E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767328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k(dx/dt) − ω = 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81728" y="1188720"/>
            <a:ext cx="4224528" cy="1572768"/>
          </a:xfrm>
          <a:prstGeom prst="rect">
            <a:avLst/>
          </a:prstGeom>
          <a:solidFill>
            <a:srgbClr val="0C1B3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2801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67528" y="128016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Solve for wave speed v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91456" y="160934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to find dx/dt, the speed of that phase point: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91456" y="2048256"/>
            <a:ext cx="4005072" cy="530352"/>
          </a:xfrm>
          <a:prstGeom prst="rect">
            <a:avLst/>
          </a:prstGeom>
          <a:solidFill>
            <a:srgbClr val="0D2D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04825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dx/dt = ω / k     [Eq. 16-12]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81728" y="2907792"/>
            <a:ext cx="4224528" cy="1572768"/>
          </a:xfrm>
          <a:prstGeom prst="rect">
            <a:avLst/>
          </a:prstGeom>
          <a:solidFill>
            <a:srgbClr val="0C1B36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2999232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67528" y="29992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DB9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k = 2π/λ and ω = 2π/T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91456" y="332841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Replace angular quantities with wavelength and period: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91456" y="3767328"/>
            <a:ext cx="4005072" cy="530352"/>
          </a:xfrm>
          <a:prstGeom prst="rect">
            <a:avLst/>
          </a:prstGeom>
          <a:solidFill>
            <a:srgbClr val="0D2D5E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767328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(2π/T) / (2π/λ) = λ/T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420624"/>
          </a:xfrm>
          <a:prstGeom prst="rect">
            <a:avLst/>
          </a:prstGeom>
          <a:solidFill>
            <a:srgbClr val="00A8E8">
              <a:alpha val="90000"/>
            </a:srgbClr>
          </a:solidFill>
          <a:ln w="31750">
            <a:solidFill>
              <a:srgbClr val="F4B9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∴   v  =  fλ         Wave Speed = Frequency × Wavelength     [Eq. 16-13]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845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16-5   The General Wave Equation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sinusoidal traveling wave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8229600" cy="749808"/>
          </a:xfrm>
          <a:prstGeom prst="rect">
            <a:avLst/>
          </a:prstGeom>
          <a:solidFill>
            <a:srgbClr val="04102B"/>
          </a:solidFill>
          <a:ln w="31750">
            <a:solidFill>
              <a:srgbClr val="F4B9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91440" cy="7498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07008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y(x, t)  =  yₘ  sin(kx − ωt + φ)                [Eq. 16-2 / 16-10]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21408"/>
            <a:ext cx="731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1762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y(x,t)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" y="24505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displacement at position x and time 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889504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9504"/>
            <a:ext cx="73152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44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DB9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32186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Amplitude — always positive maximum displacement (m)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657600"/>
            <a:ext cx="73152" cy="65836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712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39867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Angular wave number = 2π/λ   (rad/m)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2121408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121408"/>
            <a:ext cx="7315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1762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82312" y="24505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 = 2π/T = 2πf   (rad/s)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17720" y="2889504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889504"/>
            <a:ext cx="73152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944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(kx−ωt+φ)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82312" y="32186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of the wave — determines state of oscillation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17720" y="3657600"/>
            <a:ext cx="4133088" cy="658368"/>
          </a:xfrm>
          <a:prstGeom prst="rect">
            <a:avLst/>
          </a:prstGeom>
          <a:solidFill>
            <a:srgbClr val="0A1A3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657600"/>
            <a:ext cx="73152" cy="658368"/>
          </a:xfrm>
          <a:prstGeom prst="rect">
            <a:avLst/>
          </a:prstGeom>
          <a:solidFill>
            <a:srgbClr val="A8C0DD"/>
          </a:solidFill>
          <a:ln w="12700">
            <a:solidFill>
              <a:srgbClr val="A8C0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712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82312" y="39867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constant — shifts wave horizontally; φ=0 for standard sine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0040" y="4498848"/>
            <a:ext cx="8503920" cy="566928"/>
          </a:xfrm>
          <a:prstGeom prst="rect">
            <a:avLst/>
          </a:prstGeom>
          <a:solidFill>
            <a:srgbClr val="0C1E3C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49884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(+x direction):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 = yₘ sin(kx − ωt) 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(−x direction):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 = yₘ sin(kx + ωt)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579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 — Wave on a String  (Halliday 16.1)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50876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8229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attaches one end of a 30.00 m string to a wall and shakes the free end at f = 2.00 Hz with max displacement 20.00 cm. The first crest reaches the wall in 6.00 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(a) wave speed, (b) period, (c) wavelength.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2542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80360"/>
            <a:ext cx="2651760" cy="347472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Wave Speed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26440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d/t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30.00 m ÷ 6.00 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5.00 m/s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288036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880360"/>
            <a:ext cx="2651760" cy="347472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Period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326440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1/f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÷ 2.00 Hz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0.500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288036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880360"/>
            <a:ext cx="26517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Wavelength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3264408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v × 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5.00 × 0.500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2.50 m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— Ocean Waves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waves have wavelength λ = 40.0 m and travel at v = 5.00 m/s. How many times per minute does a stationary buoy bob up and down?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671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21671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period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=  λ / v  =  40.0 / 5.00  =  8.00 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71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173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frequency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32735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=  1/T  =  1/8.00  =  0.125 Hz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73075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37764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per minute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407822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 cycles/s × 60 s  =  7.50 bobs/min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743200" y="4617720"/>
            <a:ext cx="3657600" cy="36576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7.50 bobs per minute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3 — Characteristics from a Graph  (Halliday 16.2)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transverse wave snapshot shows: two crests 8.00 cm apart (wavelength). Amplitude reads 6.00 cm. Crest shifts 6.00 cm in 3.00 s. Find: wavelength, amplitude, velocity, period, frequency.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2651760" cy="329184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8.00 cm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from graph: crest-to-crest)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2057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057400"/>
            <a:ext cx="265176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057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6.00 cm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from graph: peak height)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0574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2057400"/>
            <a:ext cx="2651760" cy="329184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57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8076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Δx/Δt = 6.00/3.00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2.00 cm/s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74720"/>
            <a:ext cx="2651760" cy="32918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747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λ/v = 8.00/2.00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4.00 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54680" y="3474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3474720"/>
            <a:ext cx="26517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4747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4612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1/T = 1/4.00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0.250 Hz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— Lecture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503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515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231900"/>
            <a:ext cx="3782568" cy="642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has f = 50.0 Hz and λ = 0.80 m. What is its speed?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03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v = fλ = 50.0 × 0.80 = 40.0 m/s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0515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27600" y="1231900"/>
            <a:ext cx="3777488" cy="642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radio at 98.1 MHz travels at 3.0×10⁸ m/s. Find the wavelength.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2039112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103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λ = v/f = 3×10⁸ / 98.1×10⁶ ≈ 3.06 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9900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3400" y="3154680"/>
            <a:ext cx="37825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transverse wave: T = 0.025 s, λ = 0.30 m. Find (a) f and (b) v.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416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(a) f = 40 Hz   (b) v = fλ = 12 m/s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98648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9900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1546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earthquake P-wave has f = 2.0 Hz and v = 8.0 km/s. Find its wavelength.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977640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40416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λ = v/f = 8000/2.0 = 4000 m = 4.0 km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 — Wave Identification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Extract parameters from a wave equation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822960"/>
          </a:xfrm>
          <a:prstGeom prst="rect">
            <a:avLst/>
          </a:prstGeom>
          <a:solidFill>
            <a:srgbClr val="0C1E3C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y(x, t) = 0.00327 sin(72.1x − 2.72t)  [SI units]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Find: (a) amplitude   (b) wavelength   (c) period   (d) frequency   (e) wave speed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8503920" cy="402336"/>
          </a:xfrm>
          <a:prstGeom prst="rect">
            <a:avLst/>
          </a:prstGeom>
          <a:solidFill>
            <a:srgbClr val="051018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4825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Strategy: Match to standard form  y = yₘ sin(kx − ωt)  →  identify yₘ, k, ω  →  calculate all quantities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420624"/>
          </a:xfrm>
          <a:prstGeom prst="rect">
            <a:avLst/>
          </a:prstGeom>
          <a:solidFill>
            <a:srgbClr val="0C1E3C"/>
          </a:solidFill>
          <a:ln w="9525">
            <a:solidFill>
              <a:srgbClr val="1E57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054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(a) Amplitude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8880" y="250545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yₘ = 0.00327 m = 3.27 mm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2505456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 from equation coefficient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8503920" cy="420624"/>
          </a:xfrm>
          <a:prstGeom prst="rect">
            <a:avLst/>
          </a:prstGeom>
          <a:solidFill>
            <a:srgbClr val="091529"/>
          </a:solidFill>
          <a:ln w="9525">
            <a:solidFill>
              <a:srgbClr val="1E57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80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(b) Wavelength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68880" y="298094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 = 72.1 rad/m  →  λ = 2π/k = 2π/72.1 ≈ 0.0871 m = 8.71 cm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2980944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 = 2π/k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8503920" cy="420624"/>
          </a:xfrm>
          <a:prstGeom prst="rect">
            <a:avLst/>
          </a:prstGeom>
          <a:solidFill>
            <a:srgbClr val="0C1E3C"/>
          </a:solidFill>
          <a:ln w="9525">
            <a:solidFill>
              <a:srgbClr val="1E57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56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(c) Period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68880" y="34564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ω = 2.72 rad/s  →  T = 2π/ω = 2π/2.72 ≈ 2.31 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35240" y="345643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 = 2π/ω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420624"/>
          </a:xfrm>
          <a:prstGeom prst="rect">
            <a:avLst/>
          </a:prstGeom>
          <a:solidFill>
            <a:srgbClr val="091529"/>
          </a:solidFill>
          <a:ln w="9525">
            <a:solidFill>
              <a:srgbClr val="1E57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(d) Frequency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68880" y="393192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= 1/T = 1/2.31 ≈ 0.433 Hz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35240" y="393192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= 1/T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420624"/>
          </a:xfrm>
          <a:prstGeom prst="rect">
            <a:avLst/>
          </a:prstGeom>
          <a:solidFill>
            <a:srgbClr val="0C1E3C"/>
          </a:solidFill>
          <a:ln w="9525">
            <a:solidFill>
              <a:srgbClr val="1E57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407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(e) Wave speed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68880" y="440740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ω/k = 2.72/72.1 ≈ 0.0377 m/s = 3.77 cm/s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35240" y="4407408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ω/k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★  Always identify k and ω first by matching the equation before calculating derived quantities.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684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2 &amp; 3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Applying v = fλ to real problems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33088" cy="2011680"/>
          </a:xfrm>
          <a:prstGeom prst="rect">
            <a:avLst/>
          </a:prstGeom>
          <a:solidFill>
            <a:srgbClr val="0C1B36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133088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358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Using v = fλ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9502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Given: f = 440 Hz,  λ = 0.75 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Find: Wave speed v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3913632" cy="475488"/>
          </a:xfrm>
          <a:prstGeom prst="rect">
            <a:avLst/>
          </a:prstGeom>
          <a:solidFill>
            <a:srgbClr val="0D2D5E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fλ = 440 × 0.75 = 330 m/s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596896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speed of sound in air at room temperature!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4133088" cy="2286000"/>
          </a:xfrm>
          <a:prstGeom prst="rect">
            <a:avLst/>
          </a:prstGeom>
          <a:solidFill>
            <a:srgbClr val="0C1B36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70432"/>
            <a:ext cx="4133088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4358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Radio Station Wavelength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572768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Given: f = 98.5 MHz,  c = 3×10⁸ m/s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Find: Wavelength λ of the broadcast signal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157984"/>
            <a:ext cx="3913632" cy="658368"/>
          </a:xfrm>
          <a:prstGeom prst="rect">
            <a:avLst/>
          </a:prstGeom>
          <a:solidFill>
            <a:srgbClr val="0D2D5E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57984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 = v/f = (3×10⁸) / (98.5×10⁶)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 ≈ 3.05 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2852928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Ideal antenna length for this FM station!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1591056"/>
          </a:xfrm>
          <a:prstGeom prst="rect">
            <a:avLst/>
          </a:prstGeom>
          <a:solidFill>
            <a:srgbClr val="071526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A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Formula Toolkit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953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fλ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91840" y="3895344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8953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= v/λ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26480" y="3895344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8953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 = v/f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891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ω/k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91840" y="4389120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3891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 = 2π/λ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26480" y="4389120"/>
            <a:ext cx="2651760" cy="402336"/>
          </a:xfrm>
          <a:prstGeom prst="rect">
            <a:avLst/>
          </a:prstGeom>
          <a:solidFill>
            <a:srgbClr val="0D2D5E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3891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ω = 2πf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031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4 — Transverse Velocity &amp; Acceleration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Calculus-based analysis of string motion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1E5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8503920" cy="566928"/>
          </a:xfrm>
          <a:prstGeom prst="rect">
            <a:avLst/>
          </a:prstGeom>
          <a:solidFill>
            <a:srgbClr val="0C1E3C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 y(x,t) = 0.00327 sin(72.1x − 2.72t)   at   x = 22.5 cm,  t = 18.9 s.  Find (a) transverse velocity u   (b) transverse acceleration aᵧ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8503920" cy="1664208"/>
          </a:xfrm>
          <a:prstGeom prst="rect">
            <a:avLst/>
          </a:prstGeom>
          <a:solidFill>
            <a:srgbClr val="0A1628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(a) Transverse Velocity  u = ∂y/∂t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y w.r.t. time (x treated as constant):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 = −ω yₘ cos(kx − ωt) = −(2.72)(0.00327) cos(72.1×0.225 − 2.72×18.9)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 = −(0.00889) cos(−35.186)  →  |u| ≈ 7.20 mm/s     [Eq. 16-21]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3566160"/>
            <a:ext cx="8503920" cy="1481328"/>
          </a:xfrm>
          <a:prstGeom prst="rect">
            <a:avLst/>
          </a:prstGeom>
          <a:solidFill>
            <a:srgbClr val="0A1628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21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(b) Transverse Acceleration  aᵧ = ∂u/∂t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u w.r.t. time: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0F4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aᵧ = −ω² yₘ sin(kx − ωt)  =  −ω² y(x,t)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aᵧ = −(2.72)² × 1.92 mm  =  −14.2 mm/s²     (negative = restoring toward equilibrium ✓)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506577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C0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SHM: acceleration always points opposite to displacement (Hooke-like restoring force)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319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Propagating disturbance that carries energy, not mass.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938528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⊥ to wave. Examples: light, string, ripples.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1600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1938528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∥ to wave. Example: sound in air.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" y="3840480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two successive identical points.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9077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0128" y="3840480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displacement from equilibrium. Energy ∝ A².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0760" y="29077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0488" y="3840480"/>
            <a:ext cx="24780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second (Hz).  f = 1/T.  v = fλ.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2713</Words>
  <Application>Microsoft Office PowerPoint</Application>
  <PresentationFormat>On-screen Show (16:9)</PresentationFormat>
  <Paragraphs>424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 – Types of Waves</dc:title>
  <dc:subject>PptxGenJS Presentation</dc:subject>
  <dc:creator>PptxGenJS</dc:creator>
  <cp:lastModifiedBy>aimen</cp:lastModifiedBy>
  <cp:revision>7</cp:revision>
  <dcterms:created xsi:type="dcterms:W3CDTF">2026-04-14T09:56:12Z</dcterms:created>
  <dcterms:modified xsi:type="dcterms:W3CDTF">2026-04-14T20:45:46Z</dcterms:modified>
</cp:coreProperties>
</file>